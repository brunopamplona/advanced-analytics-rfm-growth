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Synthetic base of 1.92 million subscriptions; numbers show the method and order of magnitude and will be recalibrated with real data within 30 days.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Mix of 65% bill and 35% card (±5 p.p. per month); 30K paid and 50K organic new subscribers per month.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12-month margin and average CAC of paid media on card; cycle-2 churn by origin; cancellation types by origin.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k-means with k=6 (ARI 0.95 across seeds). Silhouette 0.22: continuous structure.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recommendation has its own tab in the study (Playbook, Coupons by plan, Channels, Gifted email).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Pessimistic = recovery and save rates x0.5 and 3 extra months; optimistic = x1.25. Return of the group playbook: 1.2x.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Day 90: scale what passes the gate; stop what does not. The email test needs ~14K customers (about 5 months of base).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the gate fails, the maximum cost is the approved cap.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Customer-facing messages will be sent in Portuguese; the English text is a translation for review. Variables in braces come from the CRM.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Push with a short title and a body of up to 90 characters. Customer-facing text will be sent in Portuguese.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756" y="812757"/>
            <a:ext cx="10566488" cy="3911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28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28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756" y="1508681"/>
            <a:ext cx="10566444" cy="4536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756" y="812757"/>
            <a:ext cx="10566488" cy="3911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28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28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756" y="1508681"/>
            <a:ext cx="10566444" cy="4536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56" y="1851647"/>
            <a:ext cx="10883483" cy="2565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spc="100" kern="0" dirty="0">
                <a:solidFill>
                  <a:srgbClr val="E45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VIDEO+ | EXECUTIVE SUMMARY FOR THE CMO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756" y="2311378"/>
            <a:ext cx="10883483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4000" b="0" i="0" dirty="0">
                <a:solidFill>
                  <a:srgbClr val="FFFFFF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Cut 90-day churn from 22% to 18% with 3 tests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12756" y="3606778"/>
            <a:ext cx="1447778" cy="2895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E45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412889" y="3606778"/>
            <a:ext cx="9235346" cy="2895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164K of 734K subscribers cancel within 90 days: R$ 12.6M of monthly revenue at risk.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12756" y="3985247"/>
            <a:ext cx="1447778" cy="2895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8EA9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412889" y="3985247"/>
            <a:ext cx="9235346" cy="2895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 known leaks (payment, promotions, media) and act by behavior group.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12756" y="4363715"/>
            <a:ext cx="1447778" cy="2895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8EA9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412889" y="4363715"/>
            <a:ext cx="9235346" cy="2895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R$ 4.0M net margin per 90-day cycle (range: -R$ 0.1M to R$ 5.4M).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12756" y="4742185"/>
            <a:ext cx="1447778" cy="2895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E45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412889" y="4742185"/>
            <a:ext cx="9235346" cy="2895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 3 tests of 90 days on 10% of the base, with a R$ 0.15M cap on variable cost.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756" y="812756"/>
            <a:ext cx="10883483" cy="4165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0" i="0" dirty="0">
                <a:solidFill>
                  <a:srgbClr val="14213D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AS-IS: 1 in 4 subscribers leaves within 90 days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15931" y="1410211"/>
            <a:ext cx="2540022" cy="1033940"/>
          </a:xfrm>
          <a:prstGeom prst="roundRect">
            <a:avLst>
              <a:gd name="adj" fmla="val 9519"/>
            </a:avLst>
          </a:prstGeom>
          <a:solidFill>
            <a:srgbClr val="FFFFFF"/>
          </a:solidFill>
          <a:ln w="6350">
            <a:solidFill>
              <a:srgbClr val="E1DDD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94796" y="1589077"/>
            <a:ext cx="2247759" cy="4317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3200" dirty="0">
                <a:solidFill>
                  <a:srgbClr val="2A6F97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734K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994796" y="2058932"/>
            <a:ext cx="2247759" cy="2317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subscribers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489258" y="1410211"/>
            <a:ext cx="2540089" cy="1033940"/>
          </a:xfrm>
          <a:prstGeom prst="roundRect">
            <a:avLst>
              <a:gd name="adj" fmla="val 9519"/>
            </a:avLst>
          </a:prstGeom>
          <a:solidFill>
            <a:srgbClr val="FFFFFF"/>
          </a:solidFill>
          <a:ln w="6350">
            <a:solidFill>
              <a:srgbClr val="E1DDD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68124" y="1589077"/>
            <a:ext cx="2247828" cy="4317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3200" dirty="0">
                <a:solidFill>
                  <a:srgbClr val="2A6F97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R$ 53.6M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3668124" y="2058932"/>
            <a:ext cx="2247828" cy="2317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list revenue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62653" y="1410211"/>
            <a:ext cx="2540022" cy="1033940"/>
          </a:xfrm>
          <a:prstGeom prst="roundRect">
            <a:avLst>
              <a:gd name="adj" fmla="val 9519"/>
            </a:avLst>
          </a:prstGeom>
          <a:solidFill>
            <a:srgbClr val="FFFFFF"/>
          </a:solidFill>
          <a:ln w="6350">
            <a:solidFill>
              <a:srgbClr val="E1DDD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41518" y="1589077"/>
            <a:ext cx="2247759" cy="4317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3200" dirty="0">
                <a:solidFill>
                  <a:srgbClr val="E4572E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22%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6341518" y="2058932"/>
            <a:ext cx="2247759" cy="2317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cancel within 90 days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835981" y="1410211"/>
            <a:ext cx="2540089" cy="1033940"/>
          </a:xfrm>
          <a:prstGeom prst="roundRect">
            <a:avLst>
              <a:gd name="adj" fmla="val 9519"/>
            </a:avLst>
          </a:prstGeom>
          <a:solidFill>
            <a:srgbClr val="FFFFFF"/>
          </a:solidFill>
          <a:ln w="6350">
            <a:solidFill>
              <a:srgbClr val="E1DDD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014846" y="1589077"/>
            <a:ext cx="2247828" cy="4317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3200" dirty="0">
                <a:solidFill>
                  <a:srgbClr val="E4572E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R$ 12.6M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9014846" y="2058932"/>
            <a:ext cx="2247828" cy="2317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revenue at risk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12756" y="2650481"/>
            <a:ext cx="10883483" cy="2742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12-month retention by origin and acquisition</a:t>
            </a:r>
            <a:endParaRPr lang="en-US" sz="1400" dirty="0"/>
          </a:p>
        </p:txBody>
      </p:sp>
      <p:pic>
        <p:nvPicPr>
          <p:cNvPr id="16" name="Image 0" descr="12-month retention: bill organic 40%, card organic 31%, bill paid media 21%, card paid media 15%">    </p:cNvPr>
          <p:cNvPicPr>
            <a:picLocks noChangeAspect="1"/>
          </p:cNvPicPr>
          <p:nvPr/>
        </p:nvPicPr>
        <p:blipFill>
          <a:blip r:embed="rId1"/>
          <a:srcRect l="-40" r="-40" t="0" b="0"/>
          <a:stretch/>
        </p:blipFill>
        <p:spPr>
          <a:xfrm>
            <a:off x="812756" y="3102486"/>
            <a:ext cx="6984956" cy="190500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812756" y="5210641"/>
            <a:ext cx="10883483" cy="2387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Bill = charged on the Claro telecom bill. Card = credit card (internet customers).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812756" y="6238275"/>
            <a:ext cx="4197048" cy="2387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video+ | synthetic data, estimates to be validated | 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756" y="812755"/>
            <a:ext cx="10883483" cy="4165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0" i="0" dirty="0">
                <a:solidFill>
                  <a:srgbClr val="14213D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Three leaks explain most of the loss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15931" y="1410210"/>
            <a:ext cx="3414191" cy="1853023"/>
          </a:xfrm>
          <a:prstGeom prst="roundRect">
            <a:avLst>
              <a:gd name="adj" fmla="val 5312"/>
            </a:avLst>
          </a:prstGeom>
          <a:solidFill>
            <a:srgbClr val="FFFFFF"/>
          </a:solidFill>
          <a:ln w="6350">
            <a:solidFill>
              <a:srgbClr val="E1DDD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94796" y="1589077"/>
            <a:ext cx="3148153" cy="8381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3200" dirty="0">
                <a:solidFill>
                  <a:srgbClr val="E4572E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R$ 120 vs R$ 104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994796" y="2465310"/>
            <a:ext cx="3148153" cy="6444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Paid media on card: 12-month margin barely covers CAC; 9-month payback (bill: 5)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388871" y="1410210"/>
            <a:ext cx="3414257" cy="1853023"/>
          </a:xfrm>
          <a:prstGeom prst="roundRect">
            <a:avLst>
              <a:gd name="adj" fmla="val 5312"/>
            </a:avLst>
          </a:prstGeom>
          <a:solidFill>
            <a:srgbClr val="FFFFFF"/>
          </a:solidFill>
          <a:ln w="6350">
            <a:solidFill>
              <a:srgbClr val="E1DDD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67737" y="1589077"/>
            <a:ext cx="3148222" cy="4317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3200" dirty="0">
                <a:solidFill>
                  <a:srgbClr val="E4572E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47% vs 17%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4567737" y="2058932"/>
            <a:ext cx="3148222" cy="4381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Cycle-2 cancellation with and without an entry coupon on card (bill: 27% vs 12%)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961878" y="1410210"/>
            <a:ext cx="3414191" cy="1853023"/>
          </a:xfrm>
          <a:prstGeom prst="roundRect">
            <a:avLst>
              <a:gd name="adj" fmla="val 5312"/>
            </a:avLst>
          </a:prstGeom>
          <a:solidFill>
            <a:srgbClr val="FFFFFF"/>
          </a:solidFill>
          <a:ln w="6350">
            <a:solidFill>
              <a:srgbClr val="E1DDD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140744" y="1589077"/>
            <a:ext cx="3148153" cy="4317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3200" dirty="0">
                <a:solidFill>
                  <a:srgbClr val="E4572E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36% | 26%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8140744" y="2058932"/>
            <a:ext cx="3148153" cy="6444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Card: 36% of cancellations are payment failures. Bill: 14% collateral and 12% delinquency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12756" y="3469565"/>
            <a:ext cx="10883483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the Family plan, 40% off leaves the margin of the first 2 months at -2% of price; on Telecine it stays at +18%.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12756" y="6238275"/>
            <a:ext cx="4197048" cy="2387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video+ | synthetic data, estimates to be validated | 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756" y="812755"/>
            <a:ext cx="10883483" cy="8076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0" i="0" dirty="0">
                <a:solidFill>
                  <a:srgbClr val="14213D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70% of revenue sits in 2 of the 6 groups; 13% of customers are worth 2%</a:t>
            </a:r>
            <a:endParaRPr lang="en-US" sz="2800" dirty="0"/>
          </a:p>
        </p:txBody>
      </p:sp>
      <p:pic>
        <p:nvPicPr>
          <p:cNvPr id="3" name="Image 0" descr="Chart: percent of customers and of revenue by group">    </p:cNvPr>
          <p:cNvPicPr>
            <a:picLocks noChangeAspect="1"/>
          </p:cNvPicPr>
          <p:nvPr/>
        </p:nvPicPr>
        <p:blipFill>
          <a:blip r:embed="rId1"/>
          <a:srcRect l="0" r="0" t="-23" b="-23"/>
          <a:stretch/>
        </p:blipFill>
        <p:spPr>
          <a:xfrm>
            <a:off x="812756" y="1798160"/>
            <a:ext cx="10566356" cy="336545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12756" y="5366772"/>
            <a:ext cx="10883483" cy="2565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90-day cancellation: Coupon cinephiles 12%, Full-price loyal 10%, Cooling off 27%, Newcomers 19%, Gifted 29%, Nearly lost 51%.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812756" y="6238277"/>
            <a:ext cx="4197048" cy="2387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video+ | synthetic data, estimates to be validated | 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756" y="812757"/>
            <a:ext cx="10883483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0" i="0" dirty="0">
                <a:solidFill>
                  <a:srgbClr val="14213D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Recommendations: from AS-IS to TO-BE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15931" y="1438185"/>
            <a:ext cx="10560138" cy="436463"/>
          </a:xfrm>
          <a:prstGeom prst="roundRect">
            <a:avLst>
              <a:gd name="adj" fmla="val 10912"/>
            </a:avLst>
          </a:prstGeom>
          <a:solidFill>
            <a:srgbClr val="14213D"/>
          </a:solidFill>
          <a:ln w="6350">
            <a:solidFill>
              <a:srgbClr val="E1DDD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94796" y="1540852"/>
            <a:ext cx="2038921" cy="2565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Lever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126731" y="1540852"/>
            <a:ext cx="4077773" cy="2565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AS-IS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238134" y="1540852"/>
            <a:ext cx="4077842" cy="2565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15931" y="1931755"/>
            <a:ext cx="10560138" cy="436463"/>
          </a:xfrm>
          <a:prstGeom prst="roundRect">
            <a:avLst>
              <a:gd name="adj" fmla="val 10912"/>
            </a:avLst>
          </a:prstGeom>
          <a:solidFill>
            <a:srgbClr val="FFFFFF"/>
          </a:solidFill>
          <a:ln w="6350">
            <a:solidFill>
              <a:srgbClr val="E1DDD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94796" y="2034418"/>
            <a:ext cx="2038921" cy="2565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Paid media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126731" y="2034418"/>
            <a:ext cx="4077773" cy="2565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for bill and card; high CAC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238134" y="2034418"/>
            <a:ext cx="4077842" cy="2565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Prioritize Claro base audiences; cut Display on card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15931" y="2425322"/>
            <a:ext cx="10560138" cy="667594"/>
          </a:xfrm>
          <a:prstGeom prst="roundRect">
            <a:avLst>
              <a:gd name="adj" fmla="val 7134"/>
            </a:avLst>
          </a:prstGeom>
          <a:solidFill>
            <a:srgbClr val="FFFFFF"/>
          </a:solidFill>
          <a:ln w="6350">
            <a:solidFill>
              <a:srgbClr val="E1DDD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94796" y="2527988"/>
            <a:ext cx="2038921" cy="4876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Entry promotion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126731" y="2527988"/>
            <a:ext cx="4077773" cy="4876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 off on every plan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238134" y="2527988"/>
            <a:ext cx="4077842" cy="4876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Coupons only where they pay back: Telecine yes, Premiere in windows, Family with a benefit, not % off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15931" y="3150022"/>
            <a:ext cx="10560138" cy="667594"/>
          </a:xfrm>
          <a:prstGeom prst="roundRect">
            <a:avLst>
              <a:gd name="adj" fmla="val 7134"/>
            </a:avLst>
          </a:prstGeom>
          <a:solidFill>
            <a:srgbClr val="FFFFFF"/>
          </a:solidFill>
          <a:ln w="6350">
            <a:solidFill>
              <a:srgbClr val="E1DDD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94796" y="3252688"/>
            <a:ext cx="2038921" cy="4876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126731" y="3252688"/>
            <a:ext cx="4111403" cy="4876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Card failures and delinquency without a dunning flow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238134" y="3252688"/>
            <a:ext cx="4077842" cy="4876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Dunning on card; move billing to PIX/bill when a Claro product is cancelled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15931" y="3874722"/>
            <a:ext cx="10560138" cy="667594"/>
          </a:xfrm>
          <a:prstGeom prst="roundRect">
            <a:avLst>
              <a:gd name="adj" fmla="val 7134"/>
            </a:avLst>
          </a:prstGeom>
          <a:solidFill>
            <a:srgbClr val="FFFFFF"/>
          </a:solidFill>
          <a:ln w="6350">
            <a:solidFill>
              <a:srgbClr val="E1DDD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94796" y="3977385"/>
            <a:ext cx="2038921" cy="4876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Retention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126731" y="3977385"/>
            <a:ext cx="4077773" cy="4876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approach for everyone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238134" y="3977385"/>
            <a:ext cx="4077842" cy="4876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 by group and plan; offers only to at-risk customers with value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815931" y="4599422"/>
            <a:ext cx="10560138" cy="436463"/>
          </a:xfrm>
          <a:prstGeom prst="roundRect">
            <a:avLst>
              <a:gd name="adj" fmla="val 10912"/>
            </a:avLst>
          </a:prstGeom>
          <a:solidFill>
            <a:srgbClr val="FFFFFF"/>
          </a:solidFill>
          <a:ln w="6350">
            <a:solidFill>
              <a:srgbClr val="E1DDD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94796" y="4702085"/>
            <a:ext cx="2038921" cy="2565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Gifted customers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126731" y="4702085"/>
            <a:ext cx="4077773" cy="2565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invitation at month 3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238134" y="4702085"/>
            <a:ext cx="4134760" cy="2565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Continuity email tested in A/B (offer vs personal proof)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12756" y="6238277"/>
            <a:ext cx="4197048" cy="2387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video+ | synthetic data, estimates to be validated | 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756" y="812757"/>
            <a:ext cx="11379244" cy="4165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0" i="0" dirty="0">
                <a:solidFill>
                  <a:srgbClr val="14213D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Impact per 90-day cycle: from -R$ 0.1M to R$ 5.4M, base R$ 4.0M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15931" y="1410212"/>
            <a:ext cx="3431176" cy="1240293"/>
          </a:xfrm>
          <a:prstGeom prst="roundRect">
            <a:avLst>
              <a:gd name="adj" fmla="val 7936"/>
            </a:avLst>
          </a:prstGeom>
          <a:solidFill>
            <a:srgbClr val="FFFFFF"/>
          </a:solidFill>
          <a:ln w="6350">
            <a:solidFill>
              <a:srgbClr val="E1DDD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94796" y="1589075"/>
            <a:ext cx="3165648" cy="4317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3200" dirty="0">
                <a:solidFill>
                  <a:srgbClr val="E4572E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-R$ 0.1M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994796" y="2058932"/>
            <a:ext cx="3165648" cy="4381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Pessimistic: half the save rate and 3 extra months of retention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380412" y="1410212"/>
            <a:ext cx="3431176" cy="1240293"/>
          </a:xfrm>
          <a:prstGeom prst="roundRect">
            <a:avLst>
              <a:gd name="adj" fmla="val 7936"/>
            </a:avLst>
          </a:prstGeom>
          <a:solidFill>
            <a:srgbClr val="FFFFFF"/>
          </a:solidFill>
          <a:ln w="6350">
            <a:solidFill>
              <a:srgbClr val="E1DDD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59278" y="1589075"/>
            <a:ext cx="3165648" cy="4317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3200" dirty="0">
                <a:solidFill>
                  <a:srgbClr val="2A6F97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R$ 4.0M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4559278" y="2058932"/>
            <a:ext cx="3165648" cy="4381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Base: 28K customers retained (15K by actions + 13K by payment recovery)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944893" y="1410212"/>
            <a:ext cx="3431176" cy="1240293"/>
          </a:xfrm>
          <a:prstGeom prst="roundRect">
            <a:avLst>
              <a:gd name="adj" fmla="val 7936"/>
            </a:avLst>
          </a:prstGeom>
          <a:solidFill>
            <a:srgbClr val="FFFFFF"/>
          </a:solidFill>
          <a:ln w="6350">
            <a:solidFill>
              <a:srgbClr val="E1DDD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123759" y="1589075"/>
            <a:ext cx="3165648" cy="4317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3200" dirty="0">
                <a:solidFill>
                  <a:srgbClr val="2A6F97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R$ 5.4M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8123759" y="2058932"/>
            <a:ext cx="3165648" cy="2317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Optimistic: save rate 25% higher</a:t>
            </a:r>
            <a:endParaRPr lang="en-US" sz="1300" dirty="0"/>
          </a:p>
        </p:txBody>
      </p:sp>
      <p:pic>
        <p:nvPicPr>
          <p:cNvPr id="12" name="Image 0" descr="Bridge in R$ millions: incremental margin 5.45, discount cost -1.29, contact cost -0.17, net margin 4.00">    </p:cNvPr>
          <p:cNvPicPr>
            <a:picLocks noChangeAspect="1"/>
          </p:cNvPicPr>
          <p:nvPr/>
        </p:nvPicPr>
        <p:blipFill>
          <a:blip r:embed="rId1"/>
          <a:srcRect l="0" r="0" t="-12" b="-12"/>
          <a:stretch/>
        </p:blipFill>
        <p:spPr>
          <a:xfrm>
            <a:off x="812756" y="2856833"/>
            <a:ext cx="8254978" cy="228600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812756" y="5345990"/>
            <a:ext cx="10883483" cy="4520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Excludes staff and tools. The discount (R$ 1.3M) is the main risk; the tests define how much of it is needed. Payment recovery accounts for 58% of the result at a cost of R$ 0.1M.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812756" y="6238277"/>
            <a:ext cx="4197048" cy="2387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video+ | synthetic data, estimates to be validated | 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756" y="812757"/>
            <a:ext cx="10883483" cy="4165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0" i="0" dirty="0">
                <a:solidFill>
                  <a:srgbClr val="14213D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90-day plan: 3 tests with a decision gate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15931" y="1410212"/>
            <a:ext cx="10560138" cy="403691"/>
          </a:xfrm>
          <a:prstGeom prst="roundRect">
            <a:avLst>
              <a:gd name="adj" fmla="val 11797"/>
            </a:avLst>
          </a:prstGeom>
          <a:solidFill>
            <a:srgbClr val="14213D"/>
          </a:solidFill>
          <a:ln w="6350">
            <a:solidFill>
              <a:srgbClr val="E1DDD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69419" y="1512875"/>
            <a:ext cx="1848812" cy="223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3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2891337" y="1512875"/>
            <a:ext cx="2773218" cy="223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3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Hypothesis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710737" y="1512875"/>
            <a:ext cx="2773218" cy="223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3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 and owner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530137" y="1512875"/>
            <a:ext cx="2773218" cy="223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3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and gate (day 90)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815931" y="1871008"/>
            <a:ext cx="10560138" cy="602051"/>
          </a:xfrm>
          <a:prstGeom prst="roundRect">
            <a:avLst>
              <a:gd name="adj" fmla="val 7910"/>
            </a:avLst>
          </a:prstGeom>
          <a:solidFill>
            <a:srgbClr val="FFFFFF"/>
          </a:solidFill>
          <a:ln w="6350">
            <a:solidFill>
              <a:srgbClr val="E1DDD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9419" y="1973672"/>
            <a:ext cx="1848812" cy="42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3"/>
              </a:lnSpc>
              <a:buNone/>
            </a:pPr>
            <a:r>
              <a:rPr lang="en-US" sz="125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Payment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2891337" y="1973672"/>
            <a:ext cx="2773218" cy="42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Recover 30% of card cancellations and 20% of collateral cancellations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710737" y="1973672"/>
            <a:ext cx="2819400" cy="42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 of the base; Payments and CRM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530137" y="1973672"/>
            <a:ext cx="2773218" cy="42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Recovery ≥ 20%; net result &gt; 0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15931" y="2530165"/>
            <a:ext cx="10560138" cy="800411"/>
          </a:xfrm>
          <a:prstGeom prst="roundRect">
            <a:avLst>
              <a:gd name="adj" fmla="val 5950"/>
            </a:avLst>
          </a:prstGeom>
          <a:solidFill>
            <a:srgbClr val="FFFFFF"/>
          </a:solidFill>
          <a:ln w="6350">
            <a:solidFill>
              <a:srgbClr val="E1DDD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9419" y="2632828"/>
            <a:ext cx="1848812" cy="6204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3"/>
              </a:lnSpc>
              <a:buNone/>
            </a:pPr>
            <a:r>
              <a:rPr lang="en-US" sz="125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Coupon by plan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2891337" y="2632828"/>
            <a:ext cx="2773218" cy="6204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Family without % off (benefit) and Premiere only in windows yield equal or higher margin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710737" y="2632828"/>
            <a:ext cx="2773218" cy="6204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Coupon vs benefit vs none; Product and Pricing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8530137" y="2632828"/>
            <a:ext cx="2773218" cy="6204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12-month margin ≥ no coupon; incrementality ≥ 30%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15931" y="3387682"/>
            <a:ext cx="10560138" cy="800411"/>
          </a:xfrm>
          <a:prstGeom prst="roundRect">
            <a:avLst>
              <a:gd name="adj" fmla="val 5950"/>
            </a:avLst>
          </a:prstGeom>
          <a:solidFill>
            <a:srgbClr val="FFFFFF"/>
          </a:solidFill>
          <a:ln w="6350">
            <a:solidFill>
              <a:srgbClr val="E1DDD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69419" y="3490345"/>
            <a:ext cx="1848812" cy="6204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3"/>
              </a:lnSpc>
              <a:buNone/>
            </a:pPr>
            <a:r>
              <a:rPr lang="en-US" sz="125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Retention and gifts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2891337" y="3490345"/>
            <a:ext cx="2773218" cy="6204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Cooling off and Newcomers respond to action; month-3 email converts +2 p.p.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710737" y="3490345"/>
            <a:ext cx="2773218" cy="6204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Cooling off, Newcomers and 14K gifted; CRM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8530137" y="3490345"/>
            <a:ext cx="2773218" cy="6204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 rate ≥ 25%; conversion 10% → 12%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812756" y="4394420"/>
            <a:ext cx="10883483" cy="505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Consolidated target:</a:t>
            </a:r>
            <a:r>
              <a:rPr lang="en-US" sz="14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90-day cancellation from 22.4% to 18.5%. In parallel (30 days): recalibrate CAC, margin, cancellation and NPS with real data.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12756" y="6238273"/>
            <a:ext cx="4197048" cy="2387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video+ | synthetic data, estimates to be validated | 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756" y="812757"/>
            <a:ext cx="10883483" cy="4724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0" i="0" dirty="0">
                <a:solidFill>
                  <a:srgbClr val="FFFFFF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Decision requested today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2756" y="1462918"/>
            <a:ext cx="10566488" cy="924458"/>
          </a:xfrm>
          <a:prstGeom prst="roundRect">
            <a:avLst>
              <a:gd name="adj" fmla="val 10990"/>
            </a:avLst>
          </a:prstGeom>
          <a:solidFill>
            <a:srgbClr val="1C2E52"/>
          </a:solidFill>
          <a:ln/>
        </p:spPr>
      </p:sp>
      <p:sp>
        <p:nvSpPr>
          <p:cNvPr id="4" name="Text 2"/>
          <p:cNvSpPr/>
          <p:nvPr/>
        </p:nvSpPr>
        <p:spPr>
          <a:xfrm>
            <a:off x="1041356" y="1640697"/>
            <a:ext cx="495278" cy="5943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80"/>
              </a:lnSpc>
              <a:buNone/>
            </a:pPr>
            <a:r>
              <a:rPr lang="en-US" sz="3200" dirty="0">
                <a:solidFill>
                  <a:srgbClr val="E4572E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1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663611" y="1675600"/>
            <a:ext cx="5274067" cy="309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 3 tests of 90 days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663611" y="1960085"/>
            <a:ext cx="6144544" cy="2400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dirty="0">
                <a:solidFill>
                  <a:srgbClr val="C9D1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Payment, coupon by plan and retention by group, on 10% of the base.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12756" y="2590533"/>
            <a:ext cx="10566488" cy="924458"/>
          </a:xfrm>
          <a:prstGeom prst="roundRect">
            <a:avLst>
              <a:gd name="adj" fmla="val 10990"/>
            </a:avLst>
          </a:prstGeom>
          <a:solidFill>
            <a:srgbClr val="1C2E52"/>
          </a:solidFill>
          <a:ln/>
        </p:spPr>
      </p:sp>
      <p:sp>
        <p:nvSpPr>
          <p:cNvPr id="8" name="Text 6"/>
          <p:cNvSpPr/>
          <p:nvPr/>
        </p:nvSpPr>
        <p:spPr>
          <a:xfrm>
            <a:off x="1041356" y="2768312"/>
            <a:ext cx="495278" cy="5943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80"/>
              </a:lnSpc>
              <a:buNone/>
            </a:pPr>
            <a:r>
              <a:rPr lang="en-US" sz="3200" dirty="0">
                <a:solidFill>
                  <a:srgbClr val="E4572E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2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1663611" y="2803215"/>
            <a:ext cx="6902377" cy="309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 of R$ 0.15M per cycle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663611" y="3087697"/>
            <a:ext cx="8041604" cy="2400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dirty="0">
                <a:solidFill>
                  <a:srgbClr val="C9D1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Variable cost of contact and discounts in the pilot; staff and tools to be defined with Finance.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12756" y="3718145"/>
            <a:ext cx="10566488" cy="924458"/>
          </a:xfrm>
          <a:prstGeom prst="roundRect">
            <a:avLst>
              <a:gd name="adj" fmla="val 10990"/>
            </a:avLst>
          </a:prstGeom>
          <a:solidFill>
            <a:srgbClr val="1C2E52"/>
          </a:solidFill>
          <a:ln/>
        </p:spPr>
      </p:sp>
      <p:sp>
        <p:nvSpPr>
          <p:cNvPr id="12" name="Text 10"/>
          <p:cNvSpPr/>
          <p:nvPr/>
        </p:nvSpPr>
        <p:spPr>
          <a:xfrm>
            <a:off x="1041356" y="3895923"/>
            <a:ext cx="495278" cy="5943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80"/>
              </a:lnSpc>
              <a:buNone/>
            </a:pPr>
            <a:r>
              <a:rPr lang="en-US" sz="3200" dirty="0">
                <a:solidFill>
                  <a:srgbClr val="E4572E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3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1663611" y="3930827"/>
            <a:ext cx="4564331" cy="309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Release real data within 30 days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63611" y="4215309"/>
            <a:ext cx="5317668" cy="2400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dirty="0">
                <a:solidFill>
                  <a:srgbClr val="C9D1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CAC, margin, cancellation and NPS to recalibrate the model.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12756" y="4845757"/>
            <a:ext cx="10566488" cy="924458"/>
          </a:xfrm>
          <a:prstGeom prst="roundRect">
            <a:avLst>
              <a:gd name="adj" fmla="val 10990"/>
            </a:avLst>
          </a:prstGeom>
          <a:solidFill>
            <a:srgbClr val="1C2E52"/>
          </a:solidFill>
          <a:ln/>
        </p:spPr>
      </p:sp>
      <p:sp>
        <p:nvSpPr>
          <p:cNvPr id="16" name="Text 14"/>
          <p:cNvSpPr/>
          <p:nvPr/>
        </p:nvSpPr>
        <p:spPr>
          <a:xfrm>
            <a:off x="1041356" y="5023538"/>
            <a:ext cx="495278" cy="5943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80"/>
              </a:lnSpc>
              <a:buNone/>
            </a:pPr>
            <a:r>
              <a:rPr lang="en-US" sz="3200" dirty="0">
                <a:solidFill>
                  <a:srgbClr val="E4572E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4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1663611" y="5058439"/>
            <a:ext cx="6699919" cy="309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 owners and set the day-90 gate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663611" y="5342923"/>
            <a:ext cx="7805731" cy="2400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dirty="0">
                <a:solidFill>
                  <a:srgbClr val="C9D1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Payments, Product and Pricing, CRM. No price changes or channel cuts before the tests.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12756" y="6238273"/>
            <a:ext cx="4197048" cy="2387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video+ | synthetic data, estimates to be validated | 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756" y="812757"/>
            <a:ext cx="10883483" cy="4165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0" i="0" dirty="0">
                <a:solidFill>
                  <a:srgbClr val="14213D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Appendix: month-3 email, the two finalists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12756" y="1407033"/>
            <a:ext cx="5207044" cy="2825195"/>
          </a:xfrm>
          <a:prstGeom prst="roundRect">
            <a:avLst>
              <a:gd name="adj" fmla="val 3596"/>
            </a:avLst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812756" y="1407033"/>
            <a:ext cx="5207044" cy="2825195"/>
          </a:xfrm>
          <a:custGeom>
            <a:avLst/>
            <a:gdLst/>
            <a:ahLst/>
            <a:cxnLst/>
            <a:rect l="l" t="t" r="r" b="b"/>
            <a:pathLst>
              <a:path w="5207044" h="2825195">
                <a:moveTo>
                  <a:pt x="0" y="101600"/>
                </a:moveTo>
                <a:lnTo>
                  <a:pt x="0" y="101600"/>
                </a:lnTo>
                <a:arcTo hR="101600" wR="101600" stAng="10800000" swAng="5400000"/>
                <a:lnTo>
                  <a:pt x="5105444" y="0"/>
                </a:lnTo>
                <a:arcTo hR="101600" wR="101600" stAng="16200000" swAng="5400000"/>
                <a:lnTo>
                  <a:pt x="5207044" y="101600"/>
                </a:lnTo>
                <a:arcTo hR="50800" wR="101600" stAng="0" swAng="-5400000"/>
                <a:lnTo>
                  <a:pt x="101600" y="50800"/>
                </a:lnTo>
                <a:arcTo hR="50800" wR="101600" stAng="16200000" swAng="-5400000"/>
                <a:close/>
              </a:path>
            </a:pathLst>
          </a:custGeom>
          <a:solidFill>
            <a:srgbClr val="E4572E"/>
          </a:solidFill>
          <a:ln/>
        </p:spPr>
      </p:sp>
      <p:sp>
        <p:nvSpPr>
          <p:cNvPr id="5" name="Text 3"/>
          <p:cNvSpPr/>
          <p:nvPr/>
        </p:nvSpPr>
        <p:spPr>
          <a:xfrm>
            <a:off x="1015911" y="1657083"/>
            <a:ext cx="4944755" cy="2692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E45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G2 | Offer (average 4.0)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15911" y="1989795"/>
            <a:ext cx="4944755" cy="2400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Subject:</a:t>
            </a:r>
            <a:r>
              <a:rPr lang="en-US" sz="13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First month on your own plan with 40% off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15911" y="2293262"/>
            <a:ext cx="4944755" cy="454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line:</a:t>
            </a:r>
            <a:r>
              <a:rPr lang="en-US" sz="13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So you can pick up where you left off, your first month on your own subscription is 40% off.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15911" y="2811338"/>
            <a:ext cx="4944755" cy="454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Body:</a:t>
            </a:r>
            <a:r>
              <a:rPr lang="en-US" sz="13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Choose your plan and continue: R$ {final price} for the 1st month, then R$ {price}. First charge on {date}.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15911" y="3329422"/>
            <a:ext cx="4944755" cy="2400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Button:</a:t>
            </a:r>
            <a:r>
              <a:rPr lang="en-US" sz="13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Continue with my subscription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15911" y="3632888"/>
            <a:ext cx="4944755" cy="4215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Risk: the offer must be approved; show the final price in R$ and the first charge date.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72200" y="1407033"/>
            <a:ext cx="5207044" cy="2825195"/>
          </a:xfrm>
          <a:prstGeom prst="roundRect">
            <a:avLst>
              <a:gd name="adj" fmla="val 3596"/>
            </a:avLst>
          </a:prstGeom>
          <a:solidFill>
            <a:srgbClr val="FFFFFF"/>
          </a:solidFill>
          <a:ln/>
        </p:spPr>
      </p:sp>
      <p:sp>
        <p:nvSpPr>
          <p:cNvPr id="12" name="Shape 10"/>
          <p:cNvSpPr/>
          <p:nvPr/>
        </p:nvSpPr>
        <p:spPr>
          <a:xfrm>
            <a:off x="6172200" y="1407033"/>
            <a:ext cx="5207044" cy="2825195"/>
          </a:xfrm>
          <a:custGeom>
            <a:avLst/>
            <a:gdLst/>
            <a:ahLst/>
            <a:cxnLst/>
            <a:rect l="l" t="t" r="r" b="b"/>
            <a:pathLst>
              <a:path w="5207044" h="2825195">
                <a:moveTo>
                  <a:pt x="0" y="101600"/>
                </a:moveTo>
                <a:lnTo>
                  <a:pt x="0" y="101600"/>
                </a:lnTo>
                <a:arcTo hR="101600" wR="101600" stAng="10800000" swAng="5400000"/>
                <a:lnTo>
                  <a:pt x="5105444" y="0"/>
                </a:lnTo>
                <a:arcTo hR="101600" wR="101600" stAng="16200000" swAng="5400000"/>
                <a:lnTo>
                  <a:pt x="5207044" y="101600"/>
                </a:lnTo>
                <a:arcTo hR="50800" wR="101600" stAng="0" swAng="-5400000"/>
                <a:lnTo>
                  <a:pt x="101600" y="50800"/>
                </a:lnTo>
                <a:arcTo hR="50800" wR="101600" stAng="16200000" swAng="-5400000"/>
                <a:close/>
              </a:path>
            </a:pathLst>
          </a:custGeom>
          <a:solidFill>
            <a:srgbClr val="2A6F97"/>
          </a:solidFill>
          <a:ln/>
        </p:spPr>
      </p:sp>
      <p:sp>
        <p:nvSpPr>
          <p:cNvPr id="13" name="Text 11"/>
          <p:cNvSpPr/>
          <p:nvPr/>
        </p:nvSpPr>
        <p:spPr>
          <a:xfrm>
            <a:off x="6375355" y="1657083"/>
            <a:ext cx="4944755" cy="2692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2A6F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 | Personal proof (average 3.7)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375355" y="1989795"/>
            <a:ext cx="4944755" cy="2400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Subject:</a:t>
            </a:r>
            <a:r>
              <a:rPr lang="en-US" sz="13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You watched {hours} hours in 3 months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375355" y="2293262"/>
            <a:ext cx="4944755" cy="454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line:</a:t>
            </a:r>
            <a:r>
              <a:rPr lang="en-US" sz="13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3 months you watched {hours} hours and {titles} titles with your gift; a good sign of what suits you.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375355" y="2811338"/>
            <a:ext cx="4944755" cy="454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Body:</a:t>
            </a:r>
            <a:r>
              <a:rPr lang="en-US" sz="13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Pick up where you left off: choose the plan with the channels you use most, from R$ {price} per month.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375355" y="3329422"/>
            <a:ext cx="4944755" cy="2400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Button:</a:t>
            </a:r>
            <a:r>
              <a:rPr lang="en-US" sz="13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Choose my plan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375355" y="3632888"/>
            <a:ext cx="4944755" cy="2234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Risk: depends on correct usage data and privacy care (LGPD).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12756" y="6238273"/>
            <a:ext cx="4197048" cy="2387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video+ | synthetic data, estimates to be validated | 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756" y="812757"/>
            <a:ext cx="10883483" cy="4165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0" i="0" dirty="0">
                <a:solidFill>
                  <a:srgbClr val="14213D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Appendix: push, finalists and messages by group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12756" y="1407033"/>
            <a:ext cx="5207044" cy="2538246"/>
          </a:xfrm>
          <a:prstGeom prst="roundRect">
            <a:avLst>
              <a:gd name="adj" fmla="val 4003"/>
            </a:avLst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812756" y="1407033"/>
            <a:ext cx="5207044" cy="2538246"/>
          </a:xfrm>
          <a:custGeom>
            <a:avLst/>
            <a:gdLst/>
            <a:ahLst/>
            <a:cxnLst/>
            <a:rect l="l" t="t" r="r" b="b"/>
            <a:pathLst>
              <a:path w="5207044" h="2538246">
                <a:moveTo>
                  <a:pt x="0" y="101600"/>
                </a:moveTo>
                <a:lnTo>
                  <a:pt x="0" y="101600"/>
                </a:lnTo>
                <a:arcTo hR="101600" wR="101600" stAng="10800000" swAng="5400000"/>
                <a:lnTo>
                  <a:pt x="5105444" y="0"/>
                </a:lnTo>
                <a:arcTo hR="101600" wR="101600" stAng="16200000" swAng="5400000"/>
                <a:lnTo>
                  <a:pt x="5207044" y="101600"/>
                </a:lnTo>
                <a:arcTo hR="50800" wR="101600" stAng="0" swAng="-5400000"/>
                <a:lnTo>
                  <a:pt x="101600" y="50800"/>
                </a:lnTo>
                <a:arcTo hR="50800" wR="101600" stAng="16200000" swAng="-5400000"/>
                <a:close/>
              </a:path>
            </a:pathLst>
          </a:custGeom>
          <a:solidFill>
            <a:srgbClr val="E4572E"/>
          </a:solidFill>
          <a:ln/>
        </p:spPr>
      </p:sp>
      <p:sp>
        <p:nvSpPr>
          <p:cNvPr id="5" name="Text 3"/>
          <p:cNvSpPr/>
          <p:nvPr/>
        </p:nvSpPr>
        <p:spPr>
          <a:xfrm>
            <a:off x="1015911" y="1657083"/>
            <a:ext cx="4944755" cy="2692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E45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Gifted customers (day 85 and 88)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15911" y="1989795"/>
            <a:ext cx="4944755" cy="454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G2:</a:t>
            </a:r>
            <a:r>
              <a:rPr lang="en-US" sz="13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"Your 1st month at 40% off" | Pick up where you left off on video+. See the final price.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15911" y="2507872"/>
            <a:ext cx="4944755" cy="454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P2:</a:t>
            </a:r>
            <a:r>
              <a:rPr lang="en-US" sz="13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"{hours}h of video+ in 3 months" | Pick up where you left off: choose your plan.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15911" y="3025955"/>
            <a:ext cx="4944755" cy="454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Reminder:</a:t>
            </a:r>
            <a:r>
              <a:rPr lang="en-US" sz="13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"Your gift ends in {days} days" | Only with a confirmed date and no alarmist tone.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15911" y="3544032"/>
            <a:ext cx="5003889" cy="2234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Channel: push in the app and email; bill customers also get WhatsApp.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72200" y="1407033"/>
            <a:ext cx="5207044" cy="2538246"/>
          </a:xfrm>
          <a:prstGeom prst="roundRect">
            <a:avLst>
              <a:gd name="adj" fmla="val 4003"/>
            </a:avLst>
          </a:pr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6172200" y="1407033"/>
            <a:ext cx="5207044" cy="2538246"/>
          </a:xfrm>
          <a:custGeom>
            <a:avLst/>
            <a:gdLst/>
            <a:ahLst/>
            <a:cxnLst/>
            <a:rect l="l" t="t" r="r" b="b"/>
            <a:pathLst>
              <a:path w="5207044" h="2538246">
                <a:moveTo>
                  <a:pt x="0" y="101600"/>
                </a:moveTo>
                <a:lnTo>
                  <a:pt x="0" y="101600"/>
                </a:lnTo>
                <a:arcTo hR="101600" wR="101600" stAng="10800000" swAng="5400000"/>
                <a:lnTo>
                  <a:pt x="5105444" y="0"/>
                </a:lnTo>
                <a:arcTo hR="101600" wR="101600" stAng="16200000" swAng="5400000"/>
                <a:lnTo>
                  <a:pt x="5207044" y="101600"/>
                </a:lnTo>
                <a:arcTo hR="50800" wR="101600" stAng="0" swAng="-5400000"/>
                <a:lnTo>
                  <a:pt x="101600" y="50800"/>
                </a:lnTo>
                <a:arcTo hR="50800" wR="101600" stAng="16200000" swAng="-5400000"/>
                <a:close/>
              </a:path>
            </a:pathLst>
          </a:custGeom>
          <a:solidFill>
            <a:srgbClr val="2A6F97"/>
          </a:solidFill>
          <a:ln/>
        </p:spPr>
      </p:sp>
      <p:sp>
        <p:nvSpPr>
          <p:cNvPr id="12" name="Text 10"/>
          <p:cNvSpPr/>
          <p:nvPr/>
        </p:nvSpPr>
        <p:spPr>
          <a:xfrm>
            <a:off x="6375355" y="1657083"/>
            <a:ext cx="4944755" cy="2692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2A6F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CRM group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375355" y="1989795"/>
            <a:ext cx="4944755" cy="2400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Cinephiles:</a:t>
            </a:r>
            <a:r>
              <a:rPr lang="en-US" sz="13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"The premiere is here" | Rent it with your coupon.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375355" y="2293262"/>
            <a:ext cx="4944755" cy="454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Cooling off:</a:t>
            </a:r>
            <a:r>
              <a:rPr lang="en-US" sz="13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"You have been away a few days" | See what is new in your plan.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375355" y="2811338"/>
            <a:ext cx="4944755" cy="2400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Newcomers:</a:t>
            </a:r>
            <a:r>
              <a:rPr lang="en-US" sz="13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"Your first 3 titles" | Start here.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375355" y="3114805"/>
            <a:ext cx="4944755" cy="2400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Loyal:</a:t>
            </a:r>
            <a:r>
              <a:rPr lang="en-US" sz="13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"Early premiere access for you" | No coupon.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375355" y="3418278"/>
            <a:ext cx="4944755" cy="2234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Test: send time; maximum 2 pushes per week.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12756" y="6238273"/>
            <a:ext cx="4298799" cy="2387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video+ | synthetic data, estimates to be validated | 10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video+: from AS-IS to recommendations (RFM, channels, coupons) - English">
  <a:themeElements>
    <a:clrScheme name="video+: from AS-IS to recommendations (RFM, channels, coupons) - English">
      <a:dk1>
        <a:srgbClr val="14213D"/>
      </a:dk1>
      <a:lt1>
        <a:srgbClr val="F6F4EF"/>
      </a:lt1>
      <a:dk2>
        <a:srgbClr val="4D566A"/>
      </a:dk2>
      <a:lt2>
        <a:srgbClr val="DFDFDD"/>
      </a:lt2>
      <a:accent1>
        <a:srgbClr val="E4572E"/>
      </a:accent1>
      <a:accent2>
        <a:srgbClr val="2A6F97"/>
      </a:accent2>
      <a:accent3>
        <a:srgbClr val="8EA9DB"/>
      </a:accent3>
      <a:accent4>
        <a:srgbClr val="5B6470"/>
      </a:accent4>
      <a:accent5>
        <a:srgbClr val="C9D1E0"/>
      </a:accent5>
      <a:accent6>
        <a:srgbClr val="9AA5B8"/>
      </a:accent6>
      <a:hlink>
        <a:srgbClr val="0563C1"/>
      </a:hlink>
      <a:folHlink>
        <a:srgbClr val="954F72"/>
      </a:folHlink>
    </a:clrScheme>
    <a:fontScheme name="video+: from AS-IS to recommendations (RFM, channels, coupons) - English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video+: from AS-IS to recommendations (RFM, channels, coupons) - English</dc:title>
  <dc:subject/>
  <dc:creator/>
  <cp:lastModifiedBy/>
  <cp:revision>1</cp:revision>
  <dcterms:created xsi:type="dcterms:W3CDTF">2026-10-26T17:56:33Z</dcterms:created>
  <dcterms:modified xsi:type="dcterms:W3CDTF">2026-10-26T17:56:33Z</dcterms:modified>
</cp:coreProperties>
</file>